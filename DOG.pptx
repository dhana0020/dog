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6" r:id="rId5"/>
    <p:sldId id="345" r:id="rId6"/>
    <p:sldId id="347" r:id="rId7"/>
    <p:sldId id="348" r:id="rId8"/>
    <p:sldId id="360" r:id="rId9"/>
    <p:sldId id="349" r:id="rId10"/>
    <p:sldId id="357" r:id="rId11"/>
    <p:sldId id="358" r:id="rId12"/>
    <p:sldId id="359" r:id="rId13"/>
    <p:sldId id="350" r:id="rId14"/>
    <p:sldId id="351" r:id="rId15"/>
    <p:sldId id="35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928" autoAdjust="0"/>
  </p:normalViewPr>
  <p:slideViewPr>
    <p:cSldViewPr snapToGrid="0">
      <p:cViewPr varScale="1">
        <p:scale>
          <a:sx n="93" d="100"/>
          <a:sy n="93" d="100"/>
        </p:scale>
        <p:origin x="53" y="86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5/3/2025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61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2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11AF-516D-893A-2274-6F3991455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4704B5-0444-A450-11AF-D9BCAE8A2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9E8C42-1D40-0AFF-4980-1196614C2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048CA-853F-E743-5C81-DB331AC97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05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89DE-FE27-DDFD-7A15-E57FE665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441DD-DEE9-A57A-237D-10B9F5BED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A81AB-B91C-CF32-AF3D-63E183EAA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0A2FA-5873-1CD6-9562-9F3580041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74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A1B3-1AF1-6066-765D-A948B728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28FD0-37D3-BC22-2240-EBE9C20E8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91F79-3593-E49A-D06C-A4747D5AA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305DC-EF2C-36CE-5BD7-4D0C32F95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876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4DF2B-C0FF-D263-A5A6-50A3A1BC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060B21-C88C-A303-669C-B8EF3DF5A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8EAEF-741B-2F6B-7290-5AF677D0E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4C945-9D67-CF29-D931-CFF955939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513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099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167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44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D15EC7-E270-DCFF-1B8B-C69AFA52D53E}"/>
              </a:ext>
            </a:extLst>
          </p:cNvPr>
          <p:cNvSpPr txBox="1"/>
          <p:nvPr/>
        </p:nvSpPr>
        <p:spPr>
          <a:xfrm>
            <a:off x="1860607" y="1789044"/>
            <a:ext cx="6233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EDGE DETECTION    </a:t>
            </a:r>
          </a:p>
          <a:p>
            <a:r>
              <a:rPr lang="en-US" sz="5400" b="1" dirty="0"/>
              <a:t>	                       - DOG</a:t>
            </a:r>
            <a:endParaRPr lang="en-IN" sz="5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74E68-C1D6-B61A-4204-FFBC8A035721}"/>
              </a:ext>
            </a:extLst>
          </p:cNvPr>
          <p:cNvSpPr txBox="1"/>
          <p:nvPr/>
        </p:nvSpPr>
        <p:spPr>
          <a:xfrm>
            <a:off x="8754385" y="4762831"/>
            <a:ext cx="3077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 </a:t>
            </a:r>
          </a:p>
          <a:p>
            <a:r>
              <a:rPr lang="en-IN" dirty="0"/>
              <a:t>Dhanalakshmi A</a:t>
            </a:r>
          </a:p>
          <a:p>
            <a:r>
              <a:rPr lang="en-IN" dirty="0"/>
              <a:t>2023510019</a:t>
            </a:r>
          </a:p>
        </p:txBody>
      </p:sp>
    </p:spTree>
    <p:extLst>
      <p:ext uri="{BB962C8B-B14F-4D97-AF65-F5344CB8AC3E}">
        <p14:creationId xmlns:p14="http://schemas.microsoft.com/office/powerpoint/2010/main" val="367157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3721210" cy="992588"/>
          </a:xfrm>
        </p:spPr>
        <p:txBody>
          <a:bodyPr>
            <a:normAutofit fontScale="90000"/>
          </a:bodyPr>
          <a:lstStyle/>
          <a:p>
            <a:r>
              <a:rPr lang="en-US" dirty="0"/>
              <a:t>EDGE DETECTION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A3FD02-89F3-A8B7-5FB7-52F5A57948D7}"/>
              </a:ext>
            </a:extLst>
          </p:cNvPr>
          <p:cNvSpPr txBox="1"/>
          <p:nvPr/>
        </p:nvSpPr>
        <p:spPr>
          <a:xfrm>
            <a:off x="5470497" y="2139060"/>
            <a:ext cx="57885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technique used to identify points in a image where Intensity changes sharply 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6FC6E-A130-308F-8386-571ABC8E7EB1}"/>
              </a:ext>
            </a:extLst>
          </p:cNvPr>
          <p:cNvSpPr txBox="1"/>
          <p:nvPr/>
        </p:nvSpPr>
        <p:spPr>
          <a:xfrm>
            <a:off x="1304014" y="3429000"/>
            <a:ext cx="52876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Sobel Operator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Perwitt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Operator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Canny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F4F2A9-4825-E188-F51A-F58E0DBEF278}"/>
              </a:ext>
            </a:extLst>
          </p:cNvPr>
          <p:cNvSpPr txBox="1"/>
          <p:nvPr/>
        </p:nvSpPr>
        <p:spPr>
          <a:xfrm>
            <a:off x="914400" y="5812404"/>
            <a:ext cx="10877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find edges in images because they reveal the structure, simplify processing, and are essential for recognizing objects — just like how we sketch the outline to understand what we see.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21905908-61C5-E80D-F570-D84DB752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227" y="2364187"/>
            <a:ext cx="4802373" cy="2833689"/>
          </a:xfrm>
        </p:spPr>
        <p:txBody>
          <a:bodyPr/>
          <a:lstStyle/>
          <a:p>
            <a:r>
              <a:rPr lang="en-US" dirty="0"/>
              <a:t>,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DB775C-6E16-48E8-9B89-CD08BF1AC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85" y="2264871"/>
            <a:ext cx="5370494" cy="3032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F76D9D-58F5-6923-F9B9-59C6D02BAF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752"/>
          <a:stretch/>
        </p:blipFill>
        <p:spPr>
          <a:xfrm>
            <a:off x="6613758" y="2280773"/>
            <a:ext cx="5058757" cy="30198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9E0709-57CC-212B-67CE-F9A276E27A64}"/>
              </a:ext>
            </a:extLst>
          </p:cNvPr>
          <p:cNvSpPr txBox="1"/>
          <p:nvPr/>
        </p:nvSpPr>
        <p:spPr>
          <a:xfrm>
            <a:off x="5947576" y="3774813"/>
            <a:ext cx="666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2710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A951FD-B055-4EE8-B6D9-62EC0F39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815" y="543367"/>
            <a:ext cx="1574359" cy="1197969"/>
          </a:xfrm>
        </p:spPr>
        <p:txBody>
          <a:bodyPr>
            <a:normAutofit/>
          </a:bodyPr>
          <a:lstStyle/>
          <a:p>
            <a:r>
              <a:rPr lang="en-US" sz="4800" dirty="0"/>
              <a:t>DOG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8F258-6649-3942-4260-4DD735F34CB2}"/>
              </a:ext>
            </a:extLst>
          </p:cNvPr>
          <p:cNvSpPr txBox="1"/>
          <p:nvPr/>
        </p:nvSpPr>
        <p:spPr>
          <a:xfrm>
            <a:off x="4659464" y="1644158"/>
            <a:ext cx="67566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method where we blur the image twice using two different Gaussian filters and then subtract one blurred image from the other. This highlights regions where intensity changes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7E78A5-14F6-ED16-2522-727E08491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185" y="3355202"/>
            <a:ext cx="4416902" cy="27491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2053D0-3B8B-2272-95E0-6906FB45E3B9}"/>
              </a:ext>
            </a:extLst>
          </p:cNvPr>
          <p:cNvSpPr txBox="1"/>
          <p:nvPr/>
        </p:nvSpPr>
        <p:spPr>
          <a:xfrm>
            <a:off x="6520071" y="4839641"/>
            <a:ext cx="5152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IN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IN" kern="100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lesser standard deviation  .</a:t>
            </a: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</a:t>
            </a:r>
            <a:r>
              <a:rPr lang="en-IN" sz="1800" kern="100" baseline="30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having more standard  deviation</a:t>
            </a:r>
          </a:p>
          <a:p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1-2  positive              left and right has negative </a:t>
            </a: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452967-0D88-3223-02D5-DDF31ABD5752}"/>
              </a:ext>
            </a:extLst>
          </p:cNvPr>
          <p:cNvSpPr txBox="1"/>
          <p:nvPr/>
        </p:nvSpPr>
        <p:spPr>
          <a:xfrm>
            <a:off x="365759" y="1372028"/>
            <a:ext cx="3029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3D13-F588-355A-5BC5-AA9125B70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642BA3F-EE33-4F82-B4CB-67679020E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688" y="2041462"/>
            <a:ext cx="9593193" cy="277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45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350C2-47A5-211F-A685-9ACD21117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D43CD-636A-EB9B-61AF-5A8F395095FF}"/>
              </a:ext>
            </a:extLst>
          </p:cNvPr>
          <p:cNvSpPr txBox="1"/>
          <p:nvPr/>
        </p:nvSpPr>
        <p:spPr>
          <a:xfrm>
            <a:off x="1094629" y="3499245"/>
            <a:ext cx="11115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gaussian filters are subtracted using different deviation   </a:t>
            </a: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endup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band pass filter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frequencies are area of high contrast which corresponds to edges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6"/>
            <a:endParaRPr lang="en-I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125959-B9A5-5771-CCBF-B14479B32300}"/>
              </a:ext>
            </a:extLst>
          </p:cNvPr>
          <p:cNvSpPr txBox="1"/>
          <p:nvPr/>
        </p:nvSpPr>
        <p:spPr>
          <a:xfrm>
            <a:off x="1094629" y="1176794"/>
            <a:ext cx="10002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In signal processing, gaussian function is called as low pass filter  which implies  higher  frequencies get suppressed leaving the lower frequencies alone ……</a:t>
            </a:r>
          </a:p>
          <a:p>
            <a:r>
              <a:rPr lang="en-IN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T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suppression is determined by standard deviation of gaussian function.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E48C8-7E67-EFEB-E697-205653B9DD96}"/>
              </a:ext>
            </a:extLst>
          </p:cNvPr>
          <p:cNvSpPr txBox="1"/>
          <p:nvPr/>
        </p:nvSpPr>
        <p:spPr>
          <a:xfrm>
            <a:off x="1463036" y="5798085"/>
            <a:ext cx="932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Although it is an approximation of </a:t>
            </a:r>
            <a:r>
              <a:rPr lang="en-IN" dirty="0" err="1"/>
              <a:t>LoG</a:t>
            </a:r>
            <a:r>
              <a:rPr lang="en-IN" dirty="0"/>
              <a:t>  , it is faster compared to </a:t>
            </a:r>
            <a:r>
              <a:rPr lang="en-IN" dirty="0" err="1"/>
              <a:t>LoG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626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2AC9-9638-313E-1262-46771A09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8E9AFD-51E0-6222-9A0D-A28F5BD98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616" y="1577436"/>
            <a:ext cx="5731510" cy="1619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51931E-8449-91CF-8077-2F187B9E0171}"/>
              </a:ext>
            </a:extLst>
          </p:cNvPr>
          <p:cNvSpPr txBox="1"/>
          <p:nvPr/>
        </p:nvSpPr>
        <p:spPr>
          <a:xfrm>
            <a:off x="548640" y="858741"/>
            <a:ext cx="1963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86126-E846-5F66-7A62-F82B12C35BB0}"/>
              </a:ext>
            </a:extLst>
          </p:cNvPr>
          <p:cNvSpPr txBox="1"/>
          <p:nvPr/>
        </p:nvSpPr>
        <p:spPr>
          <a:xfrm>
            <a:off x="429371" y="3429000"/>
            <a:ext cx="2083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LAPLACIAN: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681A77-EA8E-C681-6AFA-4CC646968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136" y="3920739"/>
            <a:ext cx="2466975" cy="4000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31BDFA-F31D-DD28-413A-7178ED6F1001}"/>
              </a:ext>
            </a:extLst>
          </p:cNvPr>
          <p:cNvSpPr txBox="1"/>
          <p:nvPr/>
        </p:nvSpPr>
        <p:spPr>
          <a:xfrm>
            <a:off x="429371" y="4731026"/>
            <a:ext cx="1228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6C7D58-6BB6-654E-0448-448E8670D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723" y="5327766"/>
            <a:ext cx="5731510" cy="64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4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BBEB-E654-B9E2-7C9A-5C21F526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53E247-F445-B251-C086-E5384AF28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154" y="1820942"/>
            <a:ext cx="5731510" cy="13830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53E45B-A7AB-3C2C-61F4-E49FA824D71D}"/>
              </a:ext>
            </a:extLst>
          </p:cNvPr>
          <p:cNvSpPr txBox="1"/>
          <p:nvPr/>
        </p:nvSpPr>
        <p:spPr>
          <a:xfrm>
            <a:off x="995901" y="4112783"/>
            <a:ext cx="10803834" cy="1125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keeping the results of Gaussian filtering applied to an image, we can extract edges simply by taking the difference between successive filtered images, without needing to calculate image derivatives directly.</a:t>
            </a:r>
          </a:p>
        </p:txBody>
      </p:sp>
    </p:spTree>
    <p:extLst>
      <p:ext uri="{BB962C8B-B14F-4D97-AF65-F5344CB8AC3E}">
        <p14:creationId xmlns:p14="http://schemas.microsoft.com/office/powerpoint/2010/main" val="21212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5962-A656-1D10-35E8-6C3AF54A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7C5316-6C7A-41DA-982F-F3141B191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238" y="871029"/>
            <a:ext cx="2993349" cy="1571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CC7FE8-CE2D-94EA-C80B-339257932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238" y="3607492"/>
            <a:ext cx="3081020" cy="1615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34F84D-894B-23CA-B39B-91644373E3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56" y="3630023"/>
            <a:ext cx="3051175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DE3AA4-555A-064D-8180-03C6E1FED6E9}"/>
              </a:ext>
            </a:extLst>
          </p:cNvPr>
          <p:cNvSpPr txBox="1"/>
          <p:nvPr/>
        </p:nvSpPr>
        <p:spPr>
          <a:xfrm>
            <a:off x="3943847" y="4134678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903F02-09E2-90D6-19FD-AC07860334CF}"/>
              </a:ext>
            </a:extLst>
          </p:cNvPr>
          <p:cNvSpPr txBox="1"/>
          <p:nvPr/>
        </p:nvSpPr>
        <p:spPr>
          <a:xfrm>
            <a:off x="7800230" y="4134678"/>
            <a:ext cx="28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DAFB94-8526-F167-A8B5-B024A7AA0F57}"/>
              </a:ext>
            </a:extLst>
          </p:cNvPr>
          <p:cNvSpPr txBox="1"/>
          <p:nvPr/>
        </p:nvSpPr>
        <p:spPr>
          <a:xfrm>
            <a:off x="5496338" y="5326163"/>
            <a:ext cx="6094674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Sigma=0.2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6C068C-8B51-4CF9-7A01-9393711ABFE8}"/>
              </a:ext>
            </a:extLst>
          </p:cNvPr>
          <p:cNvSpPr txBox="1"/>
          <p:nvPr/>
        </p:nvSpPr>
        <p:spPr>
          <a:xfrm>
            <a:off x="1580901" y="5318872"/>
            <a:ext cx="6094674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Sigma = 0.4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E6B4D93-5207-3452-FBC3-601B5EBBB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715" y="3607492"/>
            <a:ext cx="3282269" cy="17258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B211C7-1374-2539-C7D1-E4D0D8A2B16A}"/>
              </a:ext>
            </a:extLst>
          </p:cNvPr>
          <p:cNvSpPr txBox="1"/>
          <p:nvPr/>
        </p:nvSpPr>
        <p:spPr>
          <a:xfrm>
            <a:off x="1510747" y="1574358"/>
            <a:ext cx="27988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            </a:t>
            </a:r>
            <a:r>
              <a:rPr lang="en-IN" sz="2000" b="1" dirty="0"/>
              <a:t>→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064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65E832F-DC64-28CC-592D-2CA44C5718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86464" y="1022313"/>
            <a:ext cx="10472530" cy="5464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When DoG is preferred:</a:t>
            </a:r>
          </a:p>
          <a:p>
            <a:pPr>
              <a:buNone/>
            </a:pPr>
            <a:r>
              <a:rPr lang="en-US" sz="2400" b="1" dirty="0"/>
              <a:t>		</a:t>
            </a:r>
            <a:endParaRPr lang="en-US" sz="2000" kern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15000"/>
              </a:lnSpc>
              <a:buNone/>
              <a:tabLst>
                <a:tab pos="457200" algn="l"/>
              </a:tabLst>
            </a:pPr>
            <a:endParaRPr lang="en-I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15000"/>
              </a:lnSpc>
              <a:tabLst>
                <a:tab pos="457200" algn="l"/>
              </a:tabLst>
            </a:pPr>
            <a:endParaRPr lang="en-US" kern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noProof="1"/>
              <a:t>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38ADE9-D6F5-84F7-8489-6CDEB832E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C4D41-E2CE-C301-E2D6-FF9394B70B92}"/>
              </a:ext>
            </a:extLst>
          </p:cNvPr>
          <p:cNvSpPr txBox="1"/>
          <p:nvPr/>
        </p:nvSpPr>
        <p:spPr>
          <a:xfrm>
            <a:off x="1573695" y="1797991"/>
            <a:ext cx="102333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Speed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(Laplacian of Gaussian)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computing second-order derivatives, which is computationally  more expensive.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(Difference of Gaussians)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just needs two Gaussian blurs and a subtraction — it's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easier to implement.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preferred in feature detection pipelines (e.g., SIFT) because it helps in identifying scale-invariant feature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computationally efficient approximation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500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364034-5F15-4B68-638D-779A619A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AD58C6-6F47-0261-9611-E968042F5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4FE9A-AEDD-6886-2370-BC328CB34F2A}"/>
              </a:ext>
            </a:extLst>
          </p:cNvPr>
          <p:cNvSpPr txBox="1"/>
          <p:nvPr/>
        </p:nvSpPr>
        <p:spPr>
          <a:xfrm>
            <a:off x="1710194" y="2314619"/>
            <a:ext cx="90399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Detection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Edge Detection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Biological Vision Models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Robotics and Real-Time Vision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Image Compression &amp; Enhancement </a:t>
            </a: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0D5068-590E-0A2A-1ACA-2790B5915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382" y="3373161"/>
            <a:ext cx="2324424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76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B5244AC-D906-A60B-5023-D0289CF4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4570" y="2766218"/>
            <a:ext cx="10359659" cy="1325563"/>
          </a:xfrm>
        </p:spPr>
        <p:txBody>
          <a:bodyPr/>
          <a:lstStyle/>
          <a:p>
            <a:r>
              <a:rPr lang="en-US" dirty="0"/>
              <a:t>Thank you for your time 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8CC2E-BB8C-CF5A-C460-C662927C0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5412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505</TotalTime>
  <Words>383</Words>
  <Application>Microsoft Office PowerPoint</Application>
  <PresentationFormat>Widescreen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Bodoni MT</vt:lpstr>
      <vt:lpstr>Calibri</vt:lpstr>
      <vt:lpstr>Source Sans Pro Light</vt:lpstr>
      <vt:lpstr>Times New Roman</vt:lpstr>
      <vt:lpstr>Wingdings</vt:lpstr>
      <vt:lpstr>Custom</vt:lpstr>
      <vt:lpstr>PowerPoint Presentation</vt:lpstr>
      <vt:lpstr>EDGE DETECTION ?</vt:lpstr>
      <vt:lpstr>,</vt:lpstr>
      <vt:lpstr>DOG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</vt:lpstr>
      <vt:lpstr>Thank you for your time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DHANALAKSHMI A</dc:creator>
  <cp:lastModifiedBy>DHANALAKSHMI A</cp:lastModifiedBy>
  <cp:revision>1</cp:revision>
  <dcterms:created xsi:type="dcterms:W3CDTF">2025-05-03T10:28:16Z</dcterms:created>
  <dcterms:modified xsi:type="dcterms:W3CDTF">2025-05-03T18:53:18Z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